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Grain Futures Quant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Cross-sectional relative value strategy</a:t>
            </a:r>
          </a:p>
          <a:p>
            <a:r>
              <a:t>Using price, curve, positioning, and physical signals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robust, explainable trading strategy</a:t>
            </a:r>
          </a:p>
          <a:p>
            <a:r>
              <a:t>Focus on economic intuition and out-of-sample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Two-block Ridge model:</a:t>
            </a:r>
          </a:p>
          <a:p>
            <a:r>
              <a:t>Core (price, curve, COT)</a:t>
            </a:r>
          </a:p>
          <a:p>
            <a:r>
              <a:t>Physical overlay (inventory, receipts, Cargill data)</a:t>
            </a:r>
          </a:p>
          <a:p>
            <a:r>
              <a:t>Predict 5-day forward PnL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Price: momentum (60d), reversal (5d)</a:t>
            </a:r>
          </a:p>
          <a:p>
            <a:r>
              <a:t>Curve: spread &amp; ratio</a:t>
            </a:r>
          </a:p>
          <a:p>
            <a:r>
              <a:t>COT: speculative &amp; commercial positioning</a:t>
            </a:r>
          </a:p>
          <a:p>
            <a:r>
              <a:t>Physical: inventory &amp; receipts</a:t>
            </a:r>
          </a:p>
          <a:p>
            <a:r>
              <a:t>Cargill: inventory &amp; crush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1: Core (alpha=25)</a:t>
            </a:r>
          </a:p>
          <a:p>
            <a:r>
              <a:t>Model 2: Physical overlay (alpha=1000)</a:t>
            </a:r>
          </a:p>
          <a:p>
            <a:r>
              <a:t>Combine predictions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Risk-adjust predictions</a:t>
            </a:r>
          </a:p>
          <a:p>
            <a:r>
              <a:t>Cross-sectional demean</a:t>
            </a:r>
          </a:p>
          <a:p>
            <a:r>
              <a:t>Scale to fixed gross exposure</a:t>
            </a:r>
          </a:p>
          <a:p>
            <a:r>
              <a:t>Daily rebalance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Trade only when signal dispersion is high</a:t>
            </a:r>
          </a:p>
          <a:p>
            <a:r>
              <a:t>Avoid low-conviction periods</a:t>
            </a:r>
          </a:p>
          <a:p>
            <a:r>
              <a:t>Improves Sharpe significantly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model: OOS Sharpe ~1.5</a:t>
            </a:r>
          </a:p>
          <a:p>
            <a:r>
              <a:t>Walk-forward: OOS Sharpe ~1.35</a:t>
            </a:r>
          </a:p>
          <a:p>
            <a:r>
              <a:t>Strong in shock regimes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Strong: droughts, geopolitics, COVID</a:t>
            </a:r>
          </a:p>
          <a:p>
            <a:r>
              <a:t>Weak: low-vol periods, trade war</a:t>
            </a:r>
          </a:p>
          <a:p>
            <a:r>
              <a:t>Regime dependency is key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Core: outright futures (corn, soybean, wheat)</a:t>
            </a:r>
          </a:p>
          <a:p>
            <a:r>
              <a:t>Overlay: inter-commodity spreads</a:t>
            </a:r>
          </a:p>
          <a:p>
            <a:r>
              <a:t>No calendar spreads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interpretable</a:t>
            </a:r>
          </a:p>
          <a:p>
            <a:r>
              <a:t>Strong economic rationale</a:t>
            </a:r>
          </a:p>
          <a:p>
            <a:r>
              <a:t>Robust validation</a:t>
            </a:r>
          </a:p>
          <a:p>
            <a:r>
              <a:t>Good risk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dataset</a:t>
            </a:r>
          </a:p>
          <a:p>
            <a:r>
              <a:t>Regime dependency</a:t>
            </a:r>
          </a:p>
          <a:p>
            <a:r>
              <a:t>Physical data sparse</a:t>
            </a:r>
          </a:p>
          <a:p>
            <a:r>
              <a:t>No macro inputs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macro signals (USD, energy)</a:t>
            </a:r>
          </a:p>
          <a:p>
            <a:r>
              <a:t>Add directional component</a:t>
            </a:r>
          </a:p>
          <a:p>
            <a:r>
              <a:t>Improve regime detection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Balanced, robust quant strategy</a:t>
            </a:r>
          </a:p>
          <a:p>
            <a:r>
              <a:t>Clear economic drivers</a:t>
            </a:r>
          </a:p>
          <a:p>
            <a:r>
              <a:t>Ready for further extension and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