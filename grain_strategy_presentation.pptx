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Grain Futures Quant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Cross-sectional relative value strategy</a:t>
            </a:r>
          </a:p>
          <a:p>
            <a:r>
              <a:t>Using price, curve, positioning, and physical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robust, explainable trading strategy</a:t>
            </a:r>
          </a:p>
          <a:p>
            <a:r>
              <a:t>Focus on economic intuition and out-of-sample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sleeve: two-block Ridge signal on outright grain futures</a:t>
            </a:r>
          </a:p>
          <a:p>
            <a:r>
              <a:t>Physical overlay: inventory, receipts, and Cargill data adjust core prediction</a:t>
            </a:r>
          </a:p>
          <a:p>
            <a:r>
              <a:t>Execution sleeves: static, 2-day hold, and opportunity-filter variants</a:t>
            </a:r>
          </a:p>
          <a:p>
            <a:r>
              <a:t>Target: rank 5-day forward PnL cross-sectionally across grains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Signals Used: Core vs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price: mom_60, rev_5; trend/reversal baseline for all regimes</a:t>
            </a:r>
          </a:p>
          <a:p>
            <a:r>
              <a:t>Core curve: curve_spread, curve_ratio; carry/tightness signal</a:t>
            </a:r>
          </a:p>
          <a:p>
            <a:r>
              <a:t>Core positioning: cot_mm_level, cot_pm_oi_level; crowdedness/hedging</a:t>
            </a:r>
          </a:p>
          <a:p>
            <a:r>
              <a:t>Physical overlay: public_inventory_change, receipts_change</a:t>
            </a:r>
          </a:p>
          <a:p>
            <a:r>
              <a:t>Cargill overlay: cgl_inventory_change, crush_surprise, crush_utilization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Ridge alpha=25: price, curve, and COT features</a:t>
            </a:r>
          </a:p>
          <a:p>
            <a:r>
              <a:t>Physical Ridge alpha=1000: inventory, receipts, Cargill crush/inventory</a:t>
            </a:r>
          </a:p>
          <a:p>
            <a:r>
              <a:t>Final prediction: core + conservative overlay, risk-adjusted then cross-sectionally demeaned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Risk-adjust predictions</a:t>
            </a:r>
          </a:p>
          <a:p>
            <a:r>
              <a:t>Cross-sectional demean</a:t>
            </a:r>
          </a:p>
          <a:p>
            <a:r>
              <a:t>Scale to fixed gross exposure</a:t>
            </a:r>
          </a:p>
          <a:p>
            <a:r>
              <a:t>Daily rebalance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 only when signal dispersion is high</a:t>
            </a:r>
          </a:p>
          <a:p>
            <a:r>
              <a:t>Avoid low-conviction periods</a:t>
            </a:r>
          </a:p>
          <a:p>
            <a:r>
              <a:t>Improves Sharpe significantly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Static model: OOS Sharpe ~1.5</a:t>
            </a:r>
          </a:p>
          <a:p>
            <a:r>
              <a:t>Walk-forward: OOS Sharpe ~1.35</a:t>
            </a:r>
          </a:p>
          <a:p>
            <a:r>
              <a:t>Strong in shock regimes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Regime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Normal: static edge-filtered core + physical overlay is the baseline</a:t>
            </a:r>
          </a:p>
          <a:p>
            <a:r>
              <a:t>Low-vol/churn: 2-day skip-rebalance reduces turnover and noisy reversals</a:t>
            </a:r>
          </a:p>
          <a:p>
            <a:r>
              <a:t>Shock/high-opportunity: multi-condition filter uses prediction + curve + momentum dispersion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Trade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Core: outright futures (corn, soybean, wheat)</a:t>
            </a:r>
          </a:p>
          <a:p>
            <a:r>
              <a:t>Overlay: inter-commodity spreads</a:t>
            </a:r>
          </a:p>
          <a:p>
            <a:r>
              <a:t>No calendar spreads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interpretable</a:t>
            </a:r>
          </a:p>
          <a:p>
            <a:r>
              <a:t>Strong economic rationale</a:t>
            </a:r>
          </a:p>
          <a:p>
            <a:r>
              <a:t>Robust validation</a:t>
            </a:r>
          </a:p>
          <a:p>
            <a:r>
              <a:t>Good risk 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dataset</a:t>
            </a:r>
          </a:p>
          <a:p>
            <a:r>
              <a:t>Regime dependency</a:t>
            </a:r>
          </a:p>
          <a:p>
            <a:r>
              <a:t>Physical data sparse</a:t>
            </a:r>
          </a:p>
          <a:p>
            <a:r>
              <a:t>No macro inputs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Freeze regime rules before the 2021-February 2026 holdout</a:t>
            </a:r>
          </a:p>
          <a:p>
            <a:r>
              <a:t>Add soybean meal/oil futures before claiming a tradable crush spread</a:t>
            </a:r>
          </a:p>
          <a:p>
            <a:r>
              <a:t>Add macro overlays only if pre-registered: USD, energy,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Balanced, robust quant strategy</a:t>
            </a:r>
          </a:p>
          <a:p>
            <a:r>
              <a:t>Clear economic drivers</a:t>
            </a:r>
          </a:p>
          <a:p>
            <a:r>
              <a:t>Ready for further extension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